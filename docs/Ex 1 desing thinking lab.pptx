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57" r:id="rId4"/>
    <p:sldId id="280" r:id="rId5"/>
    <p:sldId id="281" r:id="rId6"/>
    <p:sldId id="282" r:id="rId7"/>
    <p:sldId id="283" r:id="rId8"/>
    <p:sldId id="284" r:id="rId9"/>
    <p:sldId id="285" r:id="rId10"/>
    <p:sldId id="274" r:id="rId11"/>
    <p:sldId id="286" r:id="rId12"/>
    <p:sldId id="268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SRRlCFA/cW3kQ7Z8qFsYPlG0g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-370" y="18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419154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7213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1943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6805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774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0574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0490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7271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8741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2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2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2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2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2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4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icount.com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title"/>
          </p:nvPr>
        </p:nvSpPr>
        <p:spPr>
          <a:xfrm>
            <a:off x="3813603" y="241541"/>
            <a:ext cx="8286382" cy="2303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SCOPES template for your design challenge</a:t>
            </a:r>
            <a:endParaRPr sz="3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7" name="Google Shape;87;p1"/>
          <p:cNvSpPr txBox="1">
            <a:spLocks noGrp="1"/>
          </p:cNvSpPr>
          <p:nvPr>
            <p:ph type="body" idx="1"/>
          </p:nvPr>
        </p:nvSpPr>
        <p:spPr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 dirty="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 dirty="0">
                <a:solidFill>
                  <a:srgbClr val="B9077E"/>
                </a:solidFill>
              </a:rPr>
              <a:t>    </a:t>
            </a:r>
            <a:endParaRPr sz="3200" dirty="0"/>
          </a:p>
        </p:txBody>
      </p:sp>
      <p:pic>
        <p:nvPicPr>
          <p:cNvPr id="88" name="Google Shape;88;p1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kec2blackborder p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7859" y="4413708"/>
            <a:ext cx="1479550" cy="18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4656667" y="3429000"/>
            <a:ext cx="639697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800" i="0" u="none" strike="noStrike" cap="none" dirty="0" smtClean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</a:t>
            </a:r>
            <a:r>
              <a:rPr lang="en-US" sz="1800" i="0" u="none" strike="noStrike" cap="none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 </a:t>
            </a:r>
            <a:r>
              <a:rPr lang="en-US" sz="1800" i="0" u="none" strike="noStrike" cap="none" dirty="0" smtClean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SANGAVI S                   (25ITR125)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800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smtClean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SUMANTH S                 (25ITR146)</a:t>
            </a:r>
            <a:r>
              <a:rPr lang="en-US" sz="1800" i="0" u="none" strike="noStrike" cap="none" dirty="0" smtClean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800" i="0" u="none" strike="noStrike" cap="none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800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</a:t>
            </a:r>
            <a:r>
              <a:rPr lang="en-US" sz="1800" dirty="0" smtClean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THIRUKUMARAN S    (25ITR162)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800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smtClean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YAZHINI S                    (25ITR180)</a:t>
            </a:r>
            <a:r>
              <a:rPr lang="en-US" sz="1800" dirty="0" smtClean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713758"/>
              </p:ext>
            </p:extLst>
          </p:nvPr>
        </p:nvGraphicFramePr>
        <p:xfrm>
          <a:off x="5520820" y="5279712"/>
          <a:ext cx="6170432" cy="1100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9839">
                  <a:extLst>
                    <a:ext uri="{9D8B030D-6E8A-4147-A177-3AD203B41FA5}">
                      <a16:colId xmlns:a16="http://schemas.microsoft.com/office/drawing/2014/main" xmlns="" val="378145539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3786070190"/>
                    </a:ext>
                  </a:extLst>
                </a:gridCol>
                <a:gridCol w="4571993">
                  <a:extLst>
                    <a:ext uri="{9D8B030D-6E8A-4147-A177-3AD203B41FA5}">
                      <a16:colId xmlns:a16="http://schemas.microsoft.com/office/drawing/2014/main" xmlns="" val="2962891905"/>
                    </a:ext>
                  </a:extLst>
                </a:gridCol>
              </a:tblGrid>
              <a:tr h="366908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24ITL34 – DESIGN THINKING LAB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115757501"/>
                  </a:ext>
                </a:extLst>
              </a:tr>
              <a:tr h="366908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EXERCISE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837360398"/>
                  </a:ext>
                </a:extLst>
              </a:tr>
              <a:tr h="366908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22.07.2026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2696592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0" t="2658" r="3961" b="1018"/>
          <a:stretch/>
        </p:blipFill>
        <p:spPr>
          <a:xfrm>
            <a:off x="2875281" y="1330960"/>
            <a:ext cx="7162800" cy="5384800"/>
          </a:xfrm>
          <a:prstGeom prst="rect">
            <a:avLst/>
          </a:prstGeom>
        </p:spPr>
      </p:pic>
      <p:sp>
        <p:nvSpPr>
          <p:cNvPr id="6" name="Google Shape;95;p2"/>
          <p:cNvSpPr/>
          <p:nvPr/>
        </p:nvSpPr>
        <p:spPr>
          <a:xfrm>
            <a:off x="4269706" y="512398"/>
            <a:ext cx="435864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SCOPES Template</a:t>
            </a:r>
            <a:endParaRPr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89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3143031" y="674958"/>
            <a:ext cx="61969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i="0" u="none" strike="noStrike" cap="none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– Situation / Problem</a:t>
            </a:r>
            <a:endParaRPr sz="24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A166DEF-B77A-2863-8E30-3CF82BCB9608}"/>
              </a:ext>
            </a:extLst>
          </p:cNvPr>
          <p:cNvSpPr txBox="1"/>
          <p:nvPr/>
        </p:nvSpPr>
        <p:spPr>
          <a:xfrm>
            <a:off x="1494504" y="1155893"/>
            <a:ext cx="10127226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trying to address the situation or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?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stable internet connection for real-time monitoring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alerts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Camera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sensor performance may be affected by bad weather or poor lighting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outages can interrupt the system unless a backup power source is available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Assumptions: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campus has reliable Wi-Fi or network connectivity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power supply is available (or backup power is provided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staff carry mobile phones to receive emergency alerts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personnel are available to respond immediately when an alert is triggered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installed at key locations across the campus.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3143031" y="674958"/>
            <a:ext cx="61969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i="0" u="none" strike="noStrike" cap="none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- Constraints</a:t>
            </a:r>
            <a:endParaRPr sz="24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A166DEF-B77A-2863-8E30-3CF82BCB9608}"/>
              </a:ext>
            </a:extLst>
          </p:cNvPr>
          <p:cNvSpPr txBox="1"/>
          <p:nvPr/>
        </p:nvSpPr>
        <p:spPr>
          <a:xfrm>
            <a:off x="1494504" y="1458644"/>
            <a:ext cx="1012722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your trying to address ?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a real-time campus safety and emergency response system.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emergencies such as medical incidents, harassment, theft, or accidents, students may not be able to quickly contact campus security, resulting in delayed assistance and increased safety risks.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858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2798544" y="314771"/>
            <a:ext cx="672645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– Objectives &amp; Outcomes</a:t>
            </a:r>
            <a:endParaRPr sz="24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A166DEF-B77A-2863-8E30-3CF82BCB9608}"/>
              </a:ext>
            </a:extLst>
          </p:cNvPr>
          <p:cNvSpPr txBox="1"/>
          <p:nvPr/>
        </p:nvSpPr>
        <p:spPr>
          <a:xfrm>
            <a:off x="1308237" y="967577"/>
            <a:ext cx="1012722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intended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this design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?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safety and security of students, staff, and visitors on campus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 real-time emergency alert system through an SOS button, CCTV, and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sensors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quick communication between users and campus security for faster emergency response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emergency response by immediately notifying security personnel during </a:t>
            </a:r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incidents . Enhanced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 safety through continuous monitoring and instant </a:t>
            </a:r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 . Reduced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and increased confidence among students and staff, creating a safer campus environment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46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2773861" y="310193"/>
            <a:ext cx="756851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– People</a:t>
            </a:r>
            <a:endParaRPr sz="24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A166DEF-B77A-2863-8E30-3CF82BCB9608}"/>
              </a:ext>
            </a:extLst>
          </p:cNvPr>
          <p:cNvSpPr txBox="1"/>
          <p:nvPr/>
        </p:nvSpPr>
        <p:spPr>
          <a:xfrm>
            <a:off x="1494504" y="1181623"/>
            <a:ext cx="1012722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you are trying to help? Whose problem are you trying to address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ffected by this problem: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The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mainly affects students, faculty, staff, visitors, campus security personnel, and the college administration. They require a safer campus environment with quick emergency response, better surveillance, and improved communication during accidents or security threats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Students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for quick access to help during emergencies, accidents, or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harassment . Faculty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Staff – to ensure a safer working and learning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. Campus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Personnel – to receive instant alerts and respond quickly to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incidents . Visitors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to access emergency assistance while on campus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869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2919348" y="463291"/>
            <a:ext cx="716445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Estimates</a:t>
            </a:r>
            <a:endParaRPr sz="24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A166DEF-B77A-2863-8E30-3CF82BCB9608}"/>
              </a:ext>
            </a:extLst>
          </p:cNvPr>
          <p:cNvSpPr txBox="1"/>
          <p:nvPr/>
        </p:nvSpPr>
        <p:spPr>
          <a:xfrm>
            <a:off x="1494504" y="1357045"/>
            <a:ext cx="10127226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required for this design challenge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50000"/>
              </a:lnSpc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748721"/>
              </p:ext>
            </p:extLst>
          </p:nvPr>
        </p:nvGraphicFramePr>
        <p:xfrm>
          <a:off x="1811867" y="2317373"/>
          <a:ext cx="8128000" cy="340021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21667"/>
                <a:gridCol w="4106333"/>
              </a:tblGrid>
              <a:tr h="667173">
                <a:tc>
                  <a:txBody>
                    <a:bodyPr/>
                    <a:lstStyle/>
                    <a:p>
                      <a:pPr algn="just"/>
                      <a:r>
                        <a:rPr lang="en-US" b="0" dirty="0" smtClean="0"/>
                        <a:t>                      </a:t>
                      </a:r>
                      <a:r>
                        <a:rPr lang="en-US" sz="2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Time</a:t>
                      </a:r>
                      <a:endParaRPr lang="en-IN" sz="2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4–6 weeks to design, develop, test, and demonstrate the prototype</a:t>
                      </a:r>
                      <a:r>
                        <a:rPr 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</a:t>
                      </a:r>
                      <a:endParaRPr lang="en-IN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667173"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   </a:t>
                      </a:r>
                      <a:r>
                        <a:rPr lang="en-US" sz="24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Tools</a:t>
                      </a:r>
                      <a:endParaRPr lang="en-IN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Arduino</a:t>
                      </a:r>
                      <a:r>
                        <a:rPr lang="en-IN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/ ESP32,  </a:t>
                      </a:r>
                      <a:r>
                        <a:rPr lang="en-IN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Arduino</a:t>
                      </a:r>
                      <a:r>
                        <a:rPr lang="en-IN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IDE, laptop/computer, internet connection</a:t>
                      </a:r>
                      <a:endParaRPr lang="en-IN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667173"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   </a:t>
                      </a:r>
                      <a:r>
                        <a:rPr lang="en-US" sz="2400" dirty="0" smtClean="0"/>
                        <a:t>Materials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CCTV camera , SOS push button, buzzer, LED light, microphone, speaker, motion/smoke sensor, Wi-Fi module, cables, power supply, pole/frame</a:t>
                      </a:r>
                      <a:endParaRPr lang="en-IN" dirty="0"/>
                    </a:p>
                  </a:txBody>
                  <a:tcPr/>
                </a:tc>
              </a:tr>
              <a:tr h="667173"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   </a:t>
                      </a:r>
                      <a:r>
                        <a:rPr lang="en-US" sz="2400" dirty="0" smtClean="0"/>
                        <a:t>Software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Arduino</a:t>
                      </a:r>
                      <a:r>
                        <a:rPr lang="en-US" dirty="0" smtClean="0"/>
                        <a:t> IDE, </a:t>
                      </a:r>
                      <a:r>
                        <a:rPr lang="en-US" dirty="0" err="1" smtClean="0"/>
                        <a:t>IoT</a:t>
                      </a:r>
                      <a:r>
                        <a:rPr lang="en-US" dirty="0" smtClean="0"/>
                        <a:t> platform (</a:t>
                      </a:r>
                      <a:r>
                        <a:rPr lang="en-US" dirty="0" err="1" smtClean="0"/>
                        <a:t>Blynk</a:t>
                      </a:r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ThingSpeak</a:t>
                      </a:r>
                      <a:r>
                        <a:rPr lang="en-US" dirty="0" smtClean="0"/>
                        <a:t> or similar), basic circuit design tools</a:t>
                      </a:r>
                      <a:endParaRPr lang="en-IN" dirty="0"/>
                    </a:p>
                  </a:txBody>
                  <a:tcPr/>
                </a:tc>
              </a:tr>
              <a:tr h="667173"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   </a:t>
                      </a:r>
                      <a:r>
                        <a:rPr lang="en-US" sz="2400" dirty="0" smtClean="0"/>
                        <a:t>Human Effort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Team of 4 students with guidance from  faculty mentor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612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3143031" y="444146"/>
            <a:ext cx="561150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– Scope</a:t>
            </a:r>
            <a:endParaRPr sz="24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A166DEF-B77A-2863-8E30-3CF82BCB9608}"/>
              </a:ext>
            </a:extLst>
          </p:cNvPr>
          <p:cNvSpPr txBox="1"/>
          <p:nvPr/>
        </p:nvSpPr>
        <p:spPr>
          <a:xfrm>
            <a:off x="1206637" y="1211104"/>
            <a:ext cx="1012722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explore multiple alternatives to address the problem?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mobile safety app with an emergency SOS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Install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smart CCTV cameras for automatic threat detection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emergency devices (smart bands or ID cards) with panic buttons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Deploy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smart safety poles with sensors, cameras, and two-way communication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surveillance for monitoring large campus areas during emergencies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Further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AI-based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activity detection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for authorized access and security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Solar-powered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safety poles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campus management systems and mobile notifications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to identify high-risk areas and improve campus safety.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217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2552331" y="1638164"/>
            <a:ext cx="756851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Challenge</a:t>
            </a:r>
            <a:endParaRPr sz="24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A166DEF-B77A-2863-8E30-3CF82BCB9608}"/>
              </a:ext>
            </a:extLst>
          </p:cNvPr>
          <p:cNvSpPr txBox="1"/>
          <p:nvPr/>
        </p:nvSpPr>
        <p:spPr>
          <a:xfrm>
            <a:off x="1536837" y="2237576"/>
            <a:ext cx="101272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000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might we improve campus safety by providing a smart, real-time emergency response system that enables students and staff to quickly alert security and receive immediate assistance?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621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895E43-A44C-1C7F-5B87-1C2AE493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38600"/>
            <a:ext cx="10972800" cy="718457"/>
          </a:xfrm>
        </p:spPr>
        <p:txBody>
          <a:bodyPr/>
          <a:lstStyle/>
          <a:p>
            <a:pPr algn="ctr"/>
            <a:r>
              <a:rPr lang="en-I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 Tag Photos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425249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895E43-A44C-1C7F-5B87-1C2AE493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38600"/>
            <a:ext cx="10972800" cy="718457"/>
          </a:xfrm>
        </p:spPr>
        <p:txBody>
          <a:bodyPr/>
          <a:lstStyle/>
          <a:p>
            <a:pPr algn="ctr"/>
            <a:r>
              <a:rPr lang="en-I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r>
              <a:rPr lang="en-I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photos 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151652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2664439" y="973523"/>
            <a:ext cx="7023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</a:t>
            </a:r>
            <a:r>
              <a:rPr lang="en-US" sz="4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ces</a:t>
            </a:r>
            <a:endParaRPr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59E55AE-79FB-F813-CE9E-57FA9BD8E054}"/>
              </a:ext>
            </a:extLst>
          </p:cNvPr>
          <p:cNvSpPr txBox="1"/>
          <p:nvPr/>
        </p:nvSpPr>
        <p:spPr>
          <a:xfrm>
            <a:off x="2029357" y="1610618"/>
            <a:ext cx="8842185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Research papers on expense-sharing algorithms.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Open-source libraries used.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https://www.tricount.com/</a:t>
            </a:r>
            <a:endParaRPr lang="en-US" sz="2400" dirty="0">
              <a:solidFill>
                <a:schemeClr val="accent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accent1"/>
                </a:solidFill>
              </a:rPr>
              <a:t>https://settleup.io/</a:t>
            </a:r>
          </a:p>
        </p:txBody>
      </p:sp>
    </p:spTree>
    <p:extLst>
      <p:ext uri="{BB962C8B-B14F-4D97-AF65-F5344CB8AC3E}">
        <p14:creationId xmlns:p14="http://schemas.microsoft.com/office/powerpoint/2010/main" val="1999667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4860057" y="2767282"/>
            <a:ext cx="2776686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757</Words>
  <Application>Microsoft Office PowerPoint</Application>
  <PresentationFormat>Custom</PresentationFormat>
  <Paragraphs>96</Paragraphs>
  <Slides>13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Flow</vt:lpstr>
      <vt:lpstr>Develop SCOPES template for your design challenge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Geo Tag Photos</vt:lpstr>
      <vt:lpstr>Any photos </vt:lpstr>
      <vt:lpstr>PowerPoint Presentation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 1:  Develop SCOPES template for your design challenge</dc:title>
  <dc:creator>kavinkumar M</dc:creator>
  <cp:lastModifiedBy>User</cp:lastModifiedBy>
  <cp:revision>29</cp:revision>
  <dcterms:created xsi:type="dcterms:W3CDTF">2021-04-21T15:36:00Z</dcterms:created>
  <dcterms:modified xsi:type="dcterms:W3CDTF">2026-07-22T17:34:43Z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37A3327C92E44D8A8E230645E01DA062</vt:lpwstr>
  </property>
  <property fmtid="{D5CDD505-2E9C-101B-9397-08002B2CF9AE}" pid="3" name="KSOProductBuildVer">
    <vt:lpwstr>1033-11.2.0.11537</vt:lpwstr>
  </property>
</Properties>
</file>